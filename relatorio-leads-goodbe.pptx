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B1D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GOODBE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Relatório de Leads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1D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digitais → WhatsApp / Instagram → Matrícula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– Junho 2026 (parcial até 10/06)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Fluxo (etiquetas anuncio/anuncio-*) · EVO W12 (matrículas e base de alunos)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0" y="1280160"/>
            <a:ext cx="2560320" cy="2560320"/>
          </a:xfrm>
          <a:prstGeom prst="ellipse">
            <a:avLst/>
          </a:prstGeom>
          <a:solidFill>
            <a:srgbClr val="B1D135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2011680"/>
            <a:ext cx="1463040" cy="1463040"/>
          </a:xfrm>
          <a:prstGeom prst="ellipse">
            <a:avLst/>
          </a:prstGeom>
          <a:solidFill>
            <a:srgbClr val="B1D135">
              <a:alpha val="4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 executivo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= conversas criadas com etiqueta de anúncio (anuncio/anuncio-*)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F3C2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3591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no período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645 · junho 95 (10 dias)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33472" y="1325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F3C2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0632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 → 9,5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70632" y="23591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por dia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70632" y="29992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de maio vs junho (-55%)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9744" y="1325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F3C2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6904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369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46904" y="23591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 pela Central de Vendas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46904" y="29992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centralizada funcionando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86016" y="1325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F3C2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3176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123176" y="23591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viraram alunos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23176" y="29992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1,7% dos leads de maio · conferido na base EVO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rápida: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máquina de leads está de pé e medível de ponta a ponta — do clique no anúncio à matrícula no EVO. Os dois pontos de atenção: o ritmo caiu pela metade em junho e 13% dos leads ainda chegam sem time responsável.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Contexto: o canal recebeu 4.191 conversas no total no período — este relatório foca nas etiquetadas como anúncio.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Leads por time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atende cada lead de anúncio · etiqueta de time do Fluxo · amostra detalhada de 344 leads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Vendas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0" y="1339596"/>
            <a:ext cx="4937760" cy="228600"/>
          </a:xfrm>
          <a:prstGeom prst="roundRect">
            <a:avLst>
              <a:gd name="adj" fmla="val 20000"/>
            </a:avLst>
          </a:prstGeom>
          <a:solidFill>
            <a:srgbClr val="0F3C23"/>
          </a:solidFill>
          <a:ln/>
        </p:spPr>
      </p:sp>
      <p:sp>
        <p:nvSpPr>
          <p:cNvPr id="6" name="Text 4"/>
          <p:cNvSpPr/>
          <p:nvPr/>
        </p:nvSpPr>
        <p:spPr>
          <a:xfrm>
            <a:off x="7754112" y="12984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259 · 75%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time atribuído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0" y="1714500"/>
            <a:ext cx="857912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3674264" y="16733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· 13%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Altino Arantes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0" y="2089404"/>
            <a:ext cx="438488" cy="228600"/>
          </a:xfrm>
          <a:prstGeom prst="roundRect">
            <a:avLst>
              <a:gd name="adj" fmla="val 20000"/>
            </a:avLst>
          </a:prstGeom>
          <a:solidFill>
            <a:srgbClr val="0F3C23"/>
          </a:solidFill>
          <a:ln/>
        </p:spPr>
      </p:sp>
      <p:sp>
        <p:nvSpPr>
          <p:cNvPr id="12" name="Text 10"/>
          <p:cNvSpPr/>
          <p:nvPr/>
        </p:nvSpPr>
        <p:spPr>
          <a:xfrm>
            <a:off x="3254840" y="20482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 · 7%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do Ipiranga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464308"/>
            <a:ext cx="109728" cy="228600"/>
          </a:xfrm>
          <a:prstGeom prst="roundRect">
            <a:avLst>
              <a:gd name="adj" fmla="val 41667"/>
            </a:avLst>
          </a:prstGeom>
          <a:solidFill>
            <a:srgbClr val="0F3C23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24231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1%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2839212"/>
            <a:ext cx="109728" cy="228600"/>
          </a:xfrm>
          <a:prstGeom prst="roundRect">
            <a:avLst>
              <a:gd name="adj" fmla="val 41667"/>
            </a:avLst>
          </a:prstGeom>
          <a:solidFill>
            <a:srgbClr val="0F3C23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27980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1%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Jardins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0" y="3214116"/>
            <a:ext cx="109728" cy="228600"/>
          </a:xfrm>
          <a:prstGeom prst="roundRect">
            <a:avLst>
              <a:gd name="adj" fmla="val 41667"/>
            </a:avLst>
          </a:prstGeom>
          <a:solidFill>
            <a:srgbClr val="0F3C23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1729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478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Belenzinho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0" y="3589020"/>
            <a:ext cx="109728" cy="228600"/>
          </a:xfrm>
          <a:prstGeom prst="roundRect">
            <a:avLst>
              <a:gd name="adj" fmla="val 41667"/>
            </a:avLst>
          </a:prstGeom>
          <a:solidFill>
            <a:srgbClr val="0F3C23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35478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Campestre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0" y="3963924"/>
            <a:ext cx="109728" cy="228600"/>
          </a:xfrm>
          <a:prstGeom prst="roundRect">
            <a:avLst>
              <a:gd name="adj" fmla="val 41667"/>
            </a:avLst>
          </a:prstGeom>
          <a:solidFill>
            <a:srgbClr val="0F3C23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39227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1%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 das Nações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0" y="4338828"/>
            <a:ext cx="109728" cy="228600"/>
          </a:xfrm>
          <a:prstGeom prst="roundRect">
            <a:avLst>
              <a:gd name="adj" fmla="val 41667"/>
            </a:avLst>
          </a:prstGeom>
          <a:solidFill>
            <a:srgbClr val="0F3C23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0" y="4297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45 leads (13%) sem time — roteamento automático no Fluxo resolve. Unidades recebem pouco direto: a Central distribui.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qual campanha vêm os leads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de anúncio na amostra detalhada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anuncio-goodbe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17520" y="1426464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0F3C2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371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154 · 45%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 (genérica)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1993392"/>
            <a:ext cx="4096987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205947" y="1938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 · 44%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anuncio-good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17520" y="2560320"/>
            <a:ext cx="874024" cy="274320"/>
          </a:xfrm>
          <a:prstGeom prst="roundRect">
            <a:avLst>
              <a:gd name="adj" fmla="val 20000"/>
            </a:avLst>
          </a:prstGeom>
          <a:solidFill>
            <a:srgbClr val="0F3C23"/>
          </a:solidFill>
          <a:ln/>
        </p:spPr>
      </p:sp>
      <p:sp>
        <p:nvSpPr>
          <p:cNvPr id="12" name="Text 10"/>
          <p:cNvSpPr/>
          <p:nvPr/>
        </p:nvSpPr>
        <p:spPr>
          <a:xfrm>
            <a:off x="3982984" y="2505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 · 9%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anuncio-goodbe-linkbio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17520" y="3127248"/>
            <a:ext cx="163879" cy="274320"/>
          </a:xfrm>
          <a:prstGeom prst="roundRect">
            <a:avLst>
              <a:gd name="adj" fmla="val 33478"/>
            </a:avLst>
          </a:prstGeom>
          <a:solidFill>
            <a:srgbClr val="0F3C23"/>
          </a:solidFill>
          <a:ln/>
        </p:spPr>
      </p:sp>
      <p:sp>
        <p:nvSpPr>
          <p:cNvPr id="15" name="Text 13"/>
          <p:cNvSpPr/>
          <p:nvPr/>
        </p:nvSpPr>
        <p:spPr>
          <a:xfrm>
            <a:off x="3272839" y="3072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· 2%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anuncio-lp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017520" y="3694176"/>
            <a:ext cx="109728" cy="274320"/>
          </a:xfrm>
          <a:prstGeom prst="roundRect">
            <a:avLst>
              <a:gd name="adj" fmla="val 50000"/>
            </a:avLst>
          </a:prstGeom>
          <a:solidFill>
            <a:srgbClr val="0F3C23"/>
          </a:solidFill>
          <a:ln/>
        </p:spPr>
      </p:sp>
      <p:sp>
        <p:nvSpPr>
          <p:cNvPr id="18" name="Text 16"/>
          <p:cNvSpPr/>
          <p:nvPr/>
        </p:nvSpPr>
        <p:spPr>
          <a:xfrm>
            <a:off x="3218688" y="3639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1%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696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chegam pela etiqueta genérica "anuncio" — </a:t>
            </a:r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padronizando por campanha/criativo, dá pra medir custo por lead e ROI de cada anúncio.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Ritmo de geração e atendimento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de anúncio por dia · status dos leads na amostra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leads/dia (645 em 31 dias)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JUNHO · ATÉ 10/06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01752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leads/dia (95 em 10 dias)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735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de ~55% no ritmo. </a:t>
            </a:r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Checar no Gerenciador: verba ativa, criativos pausados e datas de campanha — antes da leitura de fim de junho.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DOS LEADS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53328" y="17830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17830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251 · 73,0%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39572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23500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23500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 · 23,3%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962656"/>
            <a:ext cx="201168" cy="20116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0" name="Text 18"/>
          <p:cNvSpPr/>
          <p:nvPr/>
        </p:nvSpPr>
        <p:spPr>
          <a:xfrm>
            <a:off x="6053328" y="29169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2360" y="29169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· 3,2%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3529584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6053328" y="34838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34838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0,6%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 adiados — fila de follow-up que merece um segundo contato ativo.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Conversão e próximos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1D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viraram alunos no período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creditada no mês da matrícula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destaque: Belenzinho com 7 matrículas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1D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maio: 1,7% (11/645) — primeira régua oficial; meta natural é dobrar com follow-up dos adiados.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133856"/>
            <a:ext cx="384048" cy="384048"/>
          </a:xfrm>
          <a:prstGeom prst="ellipse">
            <a:avLst/>
          </a:prstGeom>
          <a:solidFill>
            <a:srgbClr val="B1D135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Rotear os 13% sem time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83480" y="1399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automática no Fluxo por caixa/etiqueta — todo lead com dono.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993392"/>
            <a:ext cx="384048" cy="384048"/>
          </a:xfrm>
          <a:prstGeom prst="ellipse">
            <a:avLst/>
          </a:prstGeom>
          <a:solidFill>
            <a:srgbClr val="B1D135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956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Padronizar etiquetas de campanha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83480" y="2258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aposentar a genérica "anuncio"; etiqueta por criativo = ROI por anúncio.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2852928"/>
            <a:ext cx="384048" cy="384048"/>
          </a:xfrm>
          <a:prstGeom prst="ellipse">
            <a:avLst/>
          </a:prstGeom>
          <a:solidFill>
            <a:srgbClr val="B1D135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a queda de junho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83480" y="31181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caiu de 21 → 9,5 leads/dia; conferir verba e criativos no Gerenciador.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3712464"/>
            <a:ext cx="384048" cy="384048"/>
          </a:xfrm>
          <a:prstGeom prst="ellipse">
            <a:avLst/>
          </a:prstGeom>
          <a:solidFill>
            <a:srgbClr val="B1D135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3C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os 80 leads adiados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 em follow-up — segunda abordagem ativa pela Central.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Notas: detalhe por time/campanha/status usa a amostra de 344 leads (cap de 2.000/envio do Fluxo; a acumulação diária completa o histórico) · conversão de junho subcontada até a importação de Membros de junho · acompanhamento contínuo na aba Leads do dashboard.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Leads — Anúncios Digitais</dc:title>
  <dc:subject>PptxGenJS Presentation</dc:subject>
  <dc:creator>Goodbe</dc:creator>
  <cp:lastModifiedBy>Goodbe</cp:lastModifiedBy>
  <cp:revision>1</cp:revision>
  <dcterms:created xsi:type="dcterms:W3CDTF">2026-06-11T00:54:54Z</dcterms:created>
  <dcterms:modified xsi:type="dcterms:W3CDTF">2026-06-11T00:54:54Z</dcterms:modified>
</cp:coreProperties>
</file>